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みんな、こんにちは！ 今日の情報Ⅰは、Pythonで「ガチャ」を作るよ。ボタンを押すと、ノーマル、レア、スーパーレア、ウルトラレアのカードがランダムに出てくる、あのガチャだよ。使うのは、変数・if・for の3つ。どれも教科書の第3章に出てきたものだけど、今日は「知ってる」から「使える」にレベルアップしよう！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は完成形を見てみよう。これが今日のゴール。入力欄に回数を入れて「実行」を押すと、色つきのカードがずらっと並ぶ。これを、この1時間で、自分の手で作りきるよ。最後には、名前や色、出る確率も自分好みに改造できるよう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今日は8つのステップで進むよ。変数、if、elif と else、for、リスト、関数、そしてカードにしてアプリ化、最後にアレンジタイム。1つのステップで新しく覚えることは1つだけ。前のステップのコードに1行か2行足していくだけだから、安心してね。ステップが進むほど、カードの色もノーマルからウルトラレアにレベルアップしていく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動画の使い方を説明するね。画面の右上にピンクの「動画を止めてやってみよう」マークが出たら、動画を止めて、自分のノートブックでコードを書こう。書けたら、セルの左の再生ボタンで実行。動画の「こうなったらOK」と同じになれば成功だよ。どうしても動かないときは、ノートブックの「こたえ」をタップすれば答えが見られる。答えをコピーして先に進んでも大丈夫。遅れても、必ず追いつけるようになってるから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業を始める前に、iPadの設定を1つだけ変えておこう。「設定」アプリを開いて、「一般」、「キーボード」と進んで、「スマート句読点」をオフにする。これがオンのままだと、プログラムで使うクォーテーション記号が、形のちがう記号に勝手に変わって、エラーの原因になるんだ。画面と同じようにオフになっていれば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では、Google Colaboratory、略してColabを開こう。先生から配られたリンクをタップして、「Open in Colab」と書かれたボタンをタップ。Googleアカウントでログインしていれば、ノートブックが開くよ。自分の作品を残したい人は、メニューの「ファイル」から「ドライブにコピーを保存」をしておこう。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に、「準備セル」を実行するよ。セルの左にある再生ボタンをタップしてね。「このノートブックはGoogleが作成したものではありません」という警告が出たら、「このまま実行」をタップ。「準備OK！」と表示されたら成功だよ。このセルには、今日使う便利な道具が入っている。中身は見なくて大丈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コードを書き始める前に、よくあるエラーを紹介しておくね。アンダーバーが定義されていない、と出たら空欄のうめ忘れ。random が定義されていない、と出たら準備セルをもう一度実行。SyntaxError はコロンやクォーテーションを確認。IndentationError は字下げのズレ。エラーは赤い文字で出るけど、こわくないよ。いちばん下の行を読めば、原因のヒントが書いてあるんだ。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ステップ1は「変数」。変数は、値を入れておく名前つきの箱のこと。random.random() は、0以上1未満のランダムな小数を1つ作ってくれる命令。これを r という名前の箱に入れる。イコールは「等しい」じゃなくて、「右のものを左の箱に入れる」という意味だったね。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ノートブックのステップ1のセルを見てね。print の中の、アンダーバー3つのところを r に書きかえて、実行しよう。0.73…みたいな小数が出てきたら成功！ 何回か実行してみて。毎回ちがう数が出てくるよね。これが乱数。ガチャの「運」の正体は、この数なんだ。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ステップ2は「if」。if は「もし〜なら、これをやる」という分かれ道。今回は、「もし r が 0.6 以下なら、ノーマルと表示する」。r は0から1までの数だから、0.6以下になるのは、だいたい60パーセント。つまり、これで「ノーマルが60パーセントで出る」しくみができるんだ。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Step1のコードの下に、if文を追加するよ。アンダーバーのところに 0.6 を入れて実行。r が0.6以下のときは「ノーマル」と出る。0.6より大きいときは何も出ないけど、それで正解だよ。if の行の最後のコロンと、次の行の先頭の字下げを忘れないでね。Colabは、コロンのあとで改行すると、自動で字下げしてくれるよ。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ステップ3は、レア度を4段階にする。使うのは elif と else。elif は「そうじゃなくて、もし〜なら」、else は「それ以外ぜんぶ」。0から1までの数直線を、0.6、0.85、0.97 で区切ると、ノーマル60パーセント、レア25パーセント、スーパーレア12パーセント、ウルトラレア3パーセントになる。ここの数字は仮の値だから、あとで自由に変えられるよ。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空欄は2か所。1つめはスーパーレアの境目、0.97。2つめは「それ以外ぜんぶ」だから else。else のあとにもコロンを忘れずに。実行して、何が出たかチェックしよう。ウルトラレアは3パーセントだから、なかなか出ないよ。出るまで連打してみよう！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ステップ4は「for」。いちいち実行ボタンを押すのは大変だよね。for を使うと、同じことをくりかえしてくれる。for i in range(5) と書くと、その下の字下げされた部分が5回くりかえされるよ。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ノートブックでは、Step3の中身がもう字下げしてあるよ。いちばん上の行の空欄に for と書くだけでOK。実行すると、5行出てくるはず。range の中の 5 を 10 に変えると…10連ガチャになるね。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ステップ5は「リスト」。print は表示したらそれっきり。あとでまとめて使うために、結果をためておこう。results イコール 空の角かっこ で、からっぽのリストを用意。results.append で、リストの最後に1つずつ追加していく。箱がつながった列車に、1両ずつ荷物を積んでいくイメージだよ。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だったところは、もう results.append に変えてあるよ。空欄は2つ。いちばん上は、からっぽのリストだから、角かっこを開いて閉じる。いちばん下は results。最後の print は字下げしないのがポイント。字下げすると、for の中に入って5回表示されちゃうよ。角かっこの中に5個ならんでいたら成功！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ステップ6は「関数」。ここまでのコードを、gacha という名前でひとまとめにするよ。関数は、材料を入れると結果が出てくる機械みたいなもの。def gacha(count) で、「gacha という機械を作る。材料は count」。return results で、「できあがったリストを外に返す」。range の中は count に変えて、何回回すかを外から決められるようにする。int は「数字として扱ってね」という意味だよ。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中身はもう字下げしてあるから、空欄を2つうめよう。return のあとには results。いちばん下の gacha のかっこの中には、好きな回数を入れてね。10 なら10連ガチャ。実行して、入れた数だけリストに並んでいたら成功！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いよいよステップ7、アプリ化だよ！ 準備セルに入っていた道具を使う。card は、名前と色と絵文字を渡すと、カードにしてくれる。gallery は、カードを並べてくれる。run_app は、関数を渡すと、入力欄とボタンがついたアプリにしてくれる。文字だったところが、色つきのカードに変身するよ。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ノートブックでは、文字を card に変えるところまでやってあるよ。空欄は2つ。return のところは gallery。いちばん下の run_app の最初には、作った関数の名前 gacha を入れる。ここで注意！ gacha のうしろにかっこはつけないよ。関数そのものを run_app に渡すからなんだ。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実行すると、「ガチャの回数」の入力欄と「実行」ボタンが出てくる。入力欄に 10 と入れて、「実行」をタップ！ 色つきのカードがずらっと並んだら…完成！ おめでとう！ もう一度「実行」を押すと、引き直しができるよ。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ステップ8はアレンジタイム！ ノートブックの星マークのところを自由に書きかえよう。しきい値の数字を変えると、出やすさが変わる。名前を「おにぎり」や「伝説の勇者」にしてもいいし、色や絵文字を変えてもいい。色は、画面の色見本のコードを使ってね。ひとつだけルール。しきい値は小さい順に並べること。順番がバラバラだと、出ないレア度ができちゃう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たとえばこんな感じ。自分だけのガチャができたら、となりの人と見せ合いっこしよう。早く終わった人は、elif をもう1つ増やして、5段階のガチャにチャレンジしてみてね。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今日のまとめ。乱数を入れた r は変数。レア度を分けたのは、if、elif、else の分岐。回数ぶん回したのは for の反復。結果をためたのがリスト、ぜんぶをまとめたのが関数。プログラムは、上から順に進む「順次」、「分岐」、「反復」の組み合わせでできている。今日のガチャには、その3つがぜんぶ入っていたんだ。最後にふりかえり。「ウルトラレアの確率を1パーセントにするには、どこをどう変える？」 ノートブックのいちばん下に、自分の言葉で書いてみよう。おつかれさま！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BF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情報Ⅰ 第3章 プログラミング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🎰 ガチャを作ろう！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変数・if・for でつくる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自分だけのミニアプリ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BF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Google Colaboratory ／ Python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18872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9E9E9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0" y="1188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⚪ ノーマル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09560" y="228600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4A90D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909560" y="22860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🔵 レア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589520" y="338328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9966C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589520" y="3383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🟣 スーパーレア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09560" y="448056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FFD7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909560" y="44805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⭐ ウルトラレア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🏆 今日のゴール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ボタンを押すと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ガチャが回るアプリを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自分の手で完成させる！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回数を入れて「実行」を押すと、色つきのカードがならぶ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最後は名前・色・確率を自分好みに改造できる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852160" y="1371600"/>
            <a:ext cx="5760720" cy="4325112"/>
          </a:xfrm>
          <a:prstGeom prst="roundRect">
            <a:avLst>
              <a:gd name="adj" fmla="val 2537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080760" y="1554480"/>
            <a:ext cx="53035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SS-01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完成したアプリ（10連ガチャでカードがならんだ画面）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🗺️ 今日の流れ ― 8ステップ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8E8E8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STEP1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🎲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29000" y="14173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8E8E8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429000" y="150876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STEP2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🔀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3F86D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0" y="150876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STEP3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🔀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elif / else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89720" y="14173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3F86D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89720" y="150876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STEP4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🔁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8E5CC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" y="365760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STEP5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📦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リスト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35661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8E5CC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429000" y="365760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STEP6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🧰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関数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5661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2C2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09360" y="365760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STEP7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3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🃏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アプリ化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89720" y="35661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2C2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89720" y="365760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STEP8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3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🎨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アレンジ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⚪ ノーマル → 🔵 レア → 🟣 スーパーレア → ⭐ ウルトラレア　進むほどレア度アップ！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🎬 この動画の使い方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1417320"/>
            <a:ext cx="1097280" cy="1097280"/>
          </a:xfrm>
          <a:prstGeom prst="ellipse">
            <a:avLst/>
          </a:prstGeom>
          <a:solidFill>
            <a:srgbClr val="E94B6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417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止める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ピンクのマークが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出たら一時停止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26080" y="1764792"/>
            <a:ext cx="457200" cy="411480"/>
          </a:xfrm>
          <a:prstGeom prst="rightArrow">
            <a:avLst/>
          </a:prstGeom>
          <a:solidFill>
            <a:srgbClr val="C9C6E0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1417320"/>
            <a:ext cx="1097280" cy="1097280"/>
          </a:xfrm>
          <a:prstGeom prst="ellipse">
            <a:avLst/>
          </a:prstGeom>
          <a:solidFill>
            <a:srgbClr val="3F86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0" y="1417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✏️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書く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108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ノートブックの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___ をうめる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06440" y="1764792"/>
            <a:ext cx="457200" cy="411480"/>
          </a:xfrm>
          <a:prstGeom prst="rightArrow">
            <a:avLst/>
          </a:prstGeom>
          <a:solidFill>
            <a:srgbClr val="C9C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995160" y="1417320"/>
            <a:ext cx="1097280" cy="1097280"/>
          </a:xfrm>
          <a:prstGeom prst="ellipse">
            <a:avLst/>
          </a:prstGeom>
          <a:solidFill>
            <a:srgbClr val="8E5CC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95160" y="1417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▶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実行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108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セル左の ▶ 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タップ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1764792"/>
            <a:ext cx="457200" cy="411480"/>
          </a:xfrm>
          <a:prstGeom prst="rightArrow">
            <a:avLst/>
          </a:prstGeom>
          <a:solidFill>
            <a:srgbClr val="C9C6E0"/>
          </a:solidFill>
          <a:ln/>
        </p:spPr>
      </p:sp>
      <p:sp>
        <p:nvSpPr>
          <p:cNvPr id="18" name="Shape 16"/>
          <p:cNvSpPr/>
          <p:nvPr/>
        </p:nvSpPr>
        <p:spPr>
          <a:xfrm>
            <a:off x="9875520" y="1417320"/>
            <a:ext cx="1097280" cy="1097280"/>
          </a:xfrm>
          <a:prstGeom prst="ellipse">
            <a:avLst/>
          </a:prstGeom>
          <a:solidFill>
            <a:srgbClr val="2E9E5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75520" y="1417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108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「こうなったらOK」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と同じなら成功！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6583680" cy="2011680"/>
          </a:xfrm>
          <a:prstGeom prst="roundRect">
            <a:avLst>
              <a:gd name="adj" fmla="val 5455"/>
            </a:avLst>
          </a:prstGeom>
          <a:solidFill>
            <a:srgbClr val="F3F2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389120"/>
            <a:ext cx="612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🆘 どうしても動かないときは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各ステップの下にある「こたえ」をタップ → 答えが開くよ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答えをコピーして次に進んでもOK。遅れても必ず追いつける！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06640" y="4206240"/>
            <a:ext cx="2679192" cy="2011680"/>
          </a:xfrm>
          <a:prstGeom prst="roundRect">
            <a:avLst>
              <a:gd name="adj" fmla="val 5455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7635240" y="4389120"/>
            <a:ext cx="22219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SS-18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「こたえ」を開いたところ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📱 iPadの準備：スマート句読点をオフ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549640" y="429768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549640" y="429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 動画を止めてやってみよう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8E5CC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「設定」アプリを開く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8E5CC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14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「一般」→「キーボード」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rgbClr val="8E5CC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74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「スマート句読点」をオフ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5029200" cy="1463040"/>
          </a:xfrm>
          <a:prstGeom prst="roundRect">
            <a:avLst>
              <a:gd name="adj" fmla="val 7500"/>
            </a:avLst>
          </a:prstGeom>
          <a:solidFill>
            <a:srgbClr val="FDEC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709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94B6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なぜ？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オンだと ' が ’ に変わって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エラーになっちゃう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5577840" cy="4187952"/>
          </a:xfrm>
          <a:prstGeom prst="roundRect">
            <a:avLst>
              <a:gd name="adj" fmla="val 2620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263640" y="1554480"/>
            <a:ext cx="512064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SS-02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iPadの設定画面（スマート句読点がオフになっている状態）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🚀 Colabでノートブックを開こう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549640" y="429768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549640" y="429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 動画を止めてやってみよう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SS-03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配布リンク先の「Open in Colab」ボタン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852160" y="3063240"/>
            <a:ext cx="502920" cy="411480"/>
          </a:xfrm>
          <a:prstGeom prst="rightArrow">
            <a:avLst/>
          </a:prstGeom>
          <a:solidFill>
            <a:srgbClr val="8E5CC8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137160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720840" y="155448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SS-04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Colabでノートブックが開いた画面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💾 作品を残したい人は「ファイル」→「ドライブにコピーを保存」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🔧 準備セルを ▶ で実行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549640" y="429768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549640" y="429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 動画を止めてやってみよう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▶ をタップ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474720" cy="2606040"/>
          </a:xfrm>
          <a:prstGeom prst="roundRect">
            <a:avLst>
              <a:gd name="adj" fmla="val 4211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SS-05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準備セルの ▶ ボタンの位置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「このまま実行」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74720" cy="2606040"/>
          </a:xfrm>
          <a:prstGeom prst="roundRect">
            <a:avLst>
              <a:gd name="adj" fmla="val 4211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572000" y="210312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SS-06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警告ダイアログ（「このまま実行」の位置）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準備OK！ と出れば成功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474720" cy="2606040"/>
          </a:xfrm>
          <a:prstGeom prst="roundRect">
            <a:avLst>
              <a:gd name="adj" fmla="val 4211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366760" y="210312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SS-07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「✅ 準備OK！」と出た画面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中身は見なくてOK。今日使う「便利な道具」が入っているよ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🆘 エラーが出たら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2004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エラーのいちばん下の行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1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こうしよう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1D4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3B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NameError: name '___'</a:t>
                      </a:r>
                      <a:endParaRPr lang="en-US" sz="15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3B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空欄のうめ忘れ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2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3B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NameError: name 'random'</a:t>
                      </a:r>
                      <a:endParaRPr lang="en-US" sz="15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3B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準備セルをもう一度 ▶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3B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SyntaxError</a:t>
                      </a:r>
                      <a:endParaRPr lang="en-US" sz="15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3B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: （コロン）や ' を確認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2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3B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IndentationError</a:t>
                      </a:r>
                      <a:endParaRPr lang="en-US" sz="15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3B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字下げ（行頭のスペース）のズレ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680960" y="1463040"/>
            <a:ext cx="3931920" cy="2953512"/>
          </a:xfrm>
          <a:prstGeom prst="roundRect">
            <a:avLst>
              <a:gd name="adj" fmla="val 3715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7909560" y="1645920"/>
            <a:ext cx="347472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SS-17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エラー表示の例（空欄のまま実行したとき）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赤い文字はこわくない！ いちばん下の行にヒントがあるよ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8E8E8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🎲 STEP1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変数 ― 乱数を「箱」に入れよう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86D6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random.random()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0以上1未満の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ランダムな小数をつくる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2514600"/>
            <a:ext cx="914400" cy="411480"/>
          </a:xfrm>
          <a:prstGeom prst="rightArrow">
            <a:avLst/>
          </a:prstGeom>
          <a:solidFill>
            <a:srgbClr val="8E8E8E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0" y="173736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8E8E8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21208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0.73…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📦 箱の名前： 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12480" y="2057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 = random.random()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print(r)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3F2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=  は「等しい」じゃない！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右の値を、左の箱に入れる という意味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8E8E8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🎲 STEP1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やってみよう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549640" y="429768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49640" y="429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 動画を止めてやってみよう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309360" cy="1920240"/>
          </a:xfrm>
          <a:prstGeom prst="roundRect">
            <a:avLst>
              <a:gd name="adj" fmla="val 571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FA8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🎲 Step1：乱数を変数 r に入れる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 = random.random() 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FA8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0〜1のランダムな小数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print(___)          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✏️ ___ を r に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6309360" cy="1371600"/>
          </a:xfrm>
          <a:prstGeom prst="roundRect">
            <a:avLst>
              <a:gd name="adj" fmla="val 8000"/>
            </a:avLst>
          </a:prstGeom>
          <a:solidFill>
            <a:srgbClr val="E8F6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7033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7B3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こうなったらOK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0.7318204519380561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（毎回ちがう数になる）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120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何回か ▶ を押してみよう。これがガチャの「運」の正体！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23760" y="1371600"/>
            <a:ext cx="4389120" cy="3291840"/>
          </a:xfrm>
          <a:prstGeom prst="roundRect">
            <a:avLst>
              <a:gd name="adj" fmla="val 3333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45236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SS-08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Step1 を実行した直後（小数が出ている）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8E8E8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🔀 STEP2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if ― 「もし〜なら」の分かれ道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3108960" cy="2011680"/>
          </a:xfrm>
          <a:prstGeom prst="diamond">
            <a:avLst/>
          </a:prstGeom>
          <a:solidFill>
            <a:srgbClr val="8E8E8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 &lt;= 0.6 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06240" y="2148840"/>
            <a:ext cx="1097280" cy="411480"/>
          </a:xfrm>
          <a:prstGeom prst="rightArrow">
            <a:avLst/>
          </a:prstGeom>
          <a:solidFill>
            <a:srgbClr val="2E9E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0624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E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はい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0" y="187452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9E9E9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0" y="1874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⚪ ノーマル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06240" y="3246120"/>
            <a:ext cx="1097280" cy="411480"/>
          </a:xfrm>
          <a:prstGeom prst="rightArrow">
            <a:avLst/>
          </a:prstGeom>
          <a:solidFill>
            <a:srgbClr val="C9C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いいえ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（何もしない）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12480" y="201168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0" y="2240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if r &lt;= 0.6: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print('⚪ ノーマル')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3F2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 が 0.6 以下になるのは約 60%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これで「ノーマルが60%で出る」しくみになる！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8E8E8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🔀 STEP2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やってみよう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549640" y="429768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49640" y="429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 動画を止めてやってみよう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309360" cy="2514600"/>
          </a:xfrm>
          <a:prstGeom prst="roundRect">
            <a:avLst>
              <a:gd name="adj" fmla="val 436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5760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 = random.random() 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FA8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Step1と同じ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print(r)            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FA8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Step1と同じ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8FB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↓ここを追加（if文）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if r &lt;= ___:        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✏️ 0.6 を入れる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print('⚪ ノーマル')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6309360" cy="1737360"/>
          </a:xfrm>
          <a:prstGeom prst="roundRect">
            <a:avLst>
              <a:gd name="adj" fmla="val 6316"/>
            </a:avLst>
          </a:prstGeom>
          <a:solidFill>
            <a:srgbClr val="E8F6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251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7B3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こうなったらOK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0.2841739920114773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⚪ ノーマル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（0.6より大きいときは何も出ない＝正解）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23760" y="1371600"/>
            <a:ext cx="4389120" cy="3291840"/>
          </a:xfrm>
          <a:prstGeom prst="roundRect">
            <a:avLst>
              <a:gd name="adj" fmla="val 3333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45236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SS-09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Step2 を実行（「ノーマル」が出たとき）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48463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B6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行末の :（コロン）と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94B6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次の行の字下げを忘れずに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3F86D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🔀 STEP3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elif / else ― レア度を4段階に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638544" cy="1005840"/>
          </a:xfrm>
          <a:prstGeom prst="rect">
            <a:avLst/>
          </a:prstGeom>
          <a:solidFill>
            <a:srgbClr val="9E9E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6638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ノーマル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60%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87184" y="1737360"/>
            <a:ext cx="2766060" cy="1005840"/>
          </a:xfrm>
          <a:prstGeom prst="rect">
            <a:avLst/>
          </a:prstGeom>
          <a:solidFill>
            <a:srgbClr val="4A90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87184" y="1737360"/>
            <a:ext cx="27660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レア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25%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953244" y="1737360"/>
            <a:ext cx="1327709" cy="1005840"/>
          </a:xfrm>
          <a:prstGeom prst="rect">
            <a:avLst/>
          </a:prstGeom>
          <a:solidFill>
            <a:srgbClr val="9966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953244" y="1737360"/>
            <a:ext cx="132770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280953" y="1737360"/>
            <a:ext cx="331927" cy="1005840"/>
          </a:xfrm>
          <a:prstGeom prst="rect">
            <a:avLst/>
          </a:prstGeom>
          <a:solidFill>
            <a:srgbClr val="FFD7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UR 3%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729984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0.6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496044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0.85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275113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0.97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0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86D6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if r &lt;= 0.6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⚪ ノーマル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86D6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elif r &lt;= 0.85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🔵 レア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572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86D6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elif r &lt;= 0.97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572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🟣 スーパーレア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86D6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else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⭐ ウルトラレア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49440" y="3429000"/>
            <a:ext cx="4663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23760" y="3703320"/>
            <a:ext cx="731520" cy="731520"/>
          </a:xfrm>
          <a:prstGeom prst="ellipse">
            <a:avLst/>
          </a:prstGeom>
          <a:solidFill>
            <a:srgbClr val="3F86D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23760" y="3703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3703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数字は仮の値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45720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0.6 / 0.85 / 0.97 は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Step8 で自由に変えられるよ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3F86D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🔀 STEP3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やってみよう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549640" y="429768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49640" y="429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 動画を止めてやってみよう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309360" cy="4160520"/>
          </a:xfrm>
          <a:prstGeom prst="roundRect">
            <a:avLst>
              <a:gd name="adj" fmla="val 263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5760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 = random.random()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print(r)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if r &lt;= 0.6: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print('⚪ ノーマル')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8FB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↓ここから追加（elif と else）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elif r &lt;= 0.85: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print('🔵 レア')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elif r &lt;= ___: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✏️ 0.97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print('🟣 スーパーレア')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___:          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✏️ else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print('⭐ ウルトラレア')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23760" y="4663440"/>
            <a:ext cx="4389120" cy="1234440"/>
          </a:xfrm>
          <a:prstGeom prst="roundRect">
            <a:avLst>
              <a:gd name="adj" fmla="val 8889"/>
            </a:avLst>
          </a:prstGeom>
          <a:solidFill>
            <a:srgbClr val="E8F6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52360" y="48006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7B3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こうなったらOK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0.9812276130449172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⭐ ウルトラレア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23760" y="1371600"/>
            <a:ext cx="4389120" cy="3108960"/>
          </a:xfrm>
          <a:prstGeom prst="roundRect">
            <a:avLst>
              <a:gd name="adj" fmla="val 3529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452360" y="15544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SS-10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Step3 を実行（ウルトラレアが出た瞬間がベスト）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150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⭐ は 3%。出るまで連打！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3F86D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🔁 STEP4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for ― 同じことをくりかえす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1280160"/>
          </a:xfrm>
          <a:prstGeom prst="roundRect">
            <a:avLst>
              <a:gd name="adj" fmla="val 857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for i in range(5):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（ここが 5回 くりかえされる）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0" y="1371600"/>
            <a:ext cx="2011680" cy="2011680"/>
          </a:xfrm>
          <a:prstGeom prst="blockArc">
            <a:avLst>
              <a:gd name="adj1" fmla="val 1800000"/>
              <a:gd name="adj2" fmla="val 19800000"/>
              <a:gd name="adj3" fmla="val 14000"/>
            </a:avLst>
          </a:prstGeom>
          <a:solidFill>
            <a:srgbClr val="3F86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0" y="1371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🔁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923544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86D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5回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⚪ ノーマル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1回目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16352" y="38404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816352" y="3840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⚪ ノーマル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816352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2回目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84064" y="38404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084064" y="3840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🔵 レア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084064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3回目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51776" y="38404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51776" y="3840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⚪ ノーマル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351776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4回目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19488" y="38404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9966C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619488" y="3840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🟣 SR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619488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5回目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字下げ（行頭のスペース4つ）した部分が、くりかえしの中身になる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3F86D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🔁 STEP4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やってみよう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549640" y="429768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49640" y="429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 動画を止めてやってみよう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309360" cy="3931920"/>
          </a:xfrm>
          <a:prstGeom prst="roundRect">
            <a:avLst>
              <a:gd name="adj" fmla="val 279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5760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8FB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↓ここを追加（for文）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___ i in range(5):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✏️ for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 = random.random()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FA8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← 字下げ済み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if r &lt;= 0.6: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print('⚪ ノーマル')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elif r &lt;= 0.85: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print('🔵 レア')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elif r &lt;= 0.97: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print('🟣 スーパーレア')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else: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print('⭐ ウルトラレア')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23760" y="1371600"/>
            <a:ext cx="4389120" cy="2103120"/>
          </a:xfrm>
          <a:prstGeom prst="roundRect">
            <a:avLst>
              <a:gd name="adj" fmla="val 5217"/>
            </a:avLst>
          </a:prstGeom>
          <a:solidFill>
            <a:srgbClr val="E8F6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52360" y="15087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7B3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こうなったらOK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⚪ ノーマル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⚪ ノーマル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🔵 レア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⚪ ノーマル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🟣 スーパーレア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80960" y="3611880"/>
            <a:ext cx="3474720" cy="2606040"/>
          </a:xfrm>
          <a:prstGeom prst="roundRect">
            <a:avLst>
              <a:gd name="adj" fmla="val 4211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909560" y="379476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SS-11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Step4 を実行（5行出ている）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中身はもう字下げしてあるよ。1行目だけ書けばOK！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5 を 10 に変えると…？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8E5CC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📦 STEP5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リスト ― 結果をためておこう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8E5C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📦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7373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results = []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からっぽのリストを用意する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37360"/>
            <a:ext cx="731520" cy="731520"/>
          </a:xfrm>
          <a:prstGeom prst="ellipse">
            <a:avLst/>
          </a:prstGeom>
          <a:solidFill>
            <a:srgbClr val="8E5CC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➕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17373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results.append(〜)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606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リストのいちばん後ろに1つ追加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9E9E9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864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⚪ ノーマル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17520" y="38404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4A90D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01752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🔵 レア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0" y="38404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9E9E9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48640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⚪ ノーマル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46720" y="4087368"/>
            <a:ext cx="731520" cy="411480"/>
          </a:xfrm>
          <a:prstGeom prst="rightArrow">
            <a:avLst/>
          </a:prstGeom>
          <a:solidFill>
            <a:srgbClr val="8E5CC8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0" y="38404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8961120" y="3840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append で追加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🚃 箱がつながった列車に、1両ずつ積んでいくイメージ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8E5CC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📦 STEP5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やってみよう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549640" y="429768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49640" y="429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 動画を止めてやってみよう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6126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results = ___           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✏️ ↓ここを追加 []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for i in range(5):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 = random.random()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if r &lt;= 0.6: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results.append('⚪ ノーマル')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elif r &lt;= 0.85: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results.append('🔵 レア')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elif r &lt;= 0.97: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results.append('🟣 スーパーレア')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else: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results.append('⭐ ウルトラレア')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print(___)              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✏️ ↓ここを追加 results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0" y="13716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E8F6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2668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7B3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こうなったらOK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['⚪ ノーマル', '🔵 レア',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'⚪ ノーマル', '⚪ ノーマル',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'🔵 レア']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98080" y="3291840"/>
            <a:ext cx="4114800" cy="2423160"/>
          </a:xfrm>
          <a:prstGeom prst="roundRect">
            <a:avLst>
              <a:gd name="adj" fmla="val 4528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726680" y="347472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SS-12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Step5 を実行（[ ] の中に5個）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521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B6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最後の print は字下げしない！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8E5CC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🧰 STEP6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関数 ― ひとまとめにして名前をつける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94560" cy="1280160"/>
          </a:xfrm>
          <a:prstGeom prst="roundRect">
            <a:avLst>
              <a:gd name="adj" fmla="val 8571"/>
            </a:avLst>
          </a:prstGeom>
          <a:solidFill>
            <a:srgbClr val="F3F2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（回数 count）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167128"/>
            <a:ext cx="822960" cy="411480"/>
          </a:xfrm>
          <a:prstGeom prst="rightArrow">
            <a:avLst/>
          </a:prstGeom>
          <a:solidFill>
            <a:srgbClr val="8E5CC8"/>
          </a:solidFill>
          <a:ln/>
        </p:spPr>
      </p:sp>
      <p:sp>
        <p:nvSpPr>
          <p:cNvPr id="8" name="Shape 6"/>
          <p:cNvSpPr/>
          <p:nvPr/>
        </p:nvSpPr>
        <p:spPr>
          <a:xfrm>
            <a:off x="3931920" y="14630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8E5CC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93192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🏭 gacha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772400" y="2167128"/>
            <a:ext cx="822960" cy="411480"/>
          </a:xfrm>
          <a:prstGeom prst="rightArrow">
            <a:avLst/>
          </a:prstGeom>
          <a:solidFill>
            <a:srgbClr val="8E5CC8"/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1737360"/>
            <a:ext cx="2834640" cy="1280160"/>
          </a:xfrm>
          <a:prstGeom prst="roundRect">
            <a:avLst>
              <a:gd name="adj" fmla="val 8571"/>
            </a:avLst>
          </a:prstGeom>
          <a:solidFill>
            <a:srgbClr val="F3F2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0" y="17373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結果のリスト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（results）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E5C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def gacha(count):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749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gacha という機械をつくる。材料は count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E5C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return results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4480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できあがった results を外に返す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12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E5C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range(int(count))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5212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5回固定 → count 回に。int() は「数字にしてね」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8E5CC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🧰 STEP6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やってみよう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549640" y="429768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49640" y="429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 動画を止めてやってみよう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858000" cy="4160520"/>
          </a:xfrm>
          <a:prstGeom prst="roundRect">
            <a:avLst>
              <a:gd name="adj" fmla="val 263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63093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8FB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↓ここを追加：gacha という関数を作る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def gacha(count):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results = []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for i in range(int(count)):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FA8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← 5 を変えた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r = random.random()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if r &lt;= 0.6: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    results.append('⚪ ノーマル')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FA8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…（レア・SR・UR はStep5と同じ）…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return ___        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✏️ results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8FB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↓ここを追加：使ってみる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print(gacha(___))     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✏️ 回数（例：10）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0" y="137160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E8F6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09560" y="15087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7B3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こうなったらOK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['⚪ ノーマル', '⚪ ノーマル',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'🔵 レア', …（10個）]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80960" y="3017520"/>
            <a:ext cx="3931920" cy="2514600"/>
          </a:xfrm>
          <a:prstGeom prst="roundRect">
            <a:avLst>
              <a:gd name="adj" fmla="val 4364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909560" y="320040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SS-13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Step6 を実行（入れた数だけならぶ）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15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中身はもう字下げしてあるよ。___ を2つうめよう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F2C2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🃏 STEP7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カードにしてアプリ化！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D4A8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🃏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7373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card(…)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名前・色・絵文字を渡すと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カードにしてくれる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737360"/>
            <a:ext cx="731520" cy="731520"/>
          </a:xfrm>
          <a:prstGeom prst="ellipse">
            <a:avLst/>
          </a:prstGeom>
          <a:solidFill>
            <a:srgbClr val="D4A8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🖼️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7373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gallery(…)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カードのリストを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ならべてくれる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rgbClr val="D4A8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📱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17373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run_app(…)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関数を渡すと入力欄と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ボタンつきアプリに！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'⚪ ノーマル'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840480" y="4453128"/>
            <a:ext cx="914400" cy="411480"/>
          </a:xfrm>
          <a:prstGeom prst="rightArrow">
            <a:avLst/>
          </a:prstGeom>
          <a:solidFill>
            <a:srgbClr val="D4A8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57600" y="4937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card(…)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42062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9E9E9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029200" y="4206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⚪ ノーマル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206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文字が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カードに変身！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F2C2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🃏 STEP7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やってみよう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549640" y="429768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49640" y="429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 動画を止めてやってみよう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22960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def gacha(count):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results = []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for i in range(int(count)):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r = random.random()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if r &lt;= 0.6: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    results.append(card('ノーマル', color='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FA8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#9E9E9E', emoji='⚪'))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elif r &lt;= 0.85: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    results.append(card('レア', color='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FA8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#4A90D9', emoji='🔵'))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elif r &lt;= 0.97: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    results.append(card('スーパーレア', color='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FA8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#9966CC', emoji='🟣'))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else: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    results.append(card('ウルトラレア', color='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FA8C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#FFD700', emoji='⭐'))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return ___(results)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✏️ gallery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8FB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↓ここを追加：アプリとして起動！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run_app(___, label='ガチャの回数:')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D5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✏️ gacha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3716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DEC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0" y="15087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94B6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注意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run_app(gacha, …)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gacha のうしろに ( ) はつけない！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052560" y="402336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3F2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35440" y="41605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card への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書きかえは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もうやってあるよ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___ を2つ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うめよう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F2C2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🃏 STEP7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🎉 完成！ ガチャを回そう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549640" y="429768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49640" y="429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 動画を止めてやってみよう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389120" cy="3291840"/>
          </a:xfrm>
          <a:prstGeom prst="roundRect">
            <a:avLst>
              <a:gd name="adj" fmla="val 3333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7724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SS-14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入力欄と「実行」ボタンが出た画面（10 を入力済み）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120640" y="2834640"/>
            <a:ext cx="640080" cy="411480"/>
          </a:xfrm>
          <a:prstGeom prst="rightArrow">
            <a:avLst/>
          </a:prstGeom>
          <a:solidFill>
            <a:srgbClr val="D4A8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1371600"/>
            <a:ext cx="5669280" cy="4251960"/>
          </a:xfrm>
          <a:prstGeom prst="roundRect">
            <a:avLst>
              <a:gd name="adj" fmla="val 2581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172200" y="1554480"/>
            <a:ext cx="52120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SS-15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カードがならんだ画面（完成！）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92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回数を入れる　② 「実行」をタップ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もう一度押すと引き直し！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F2C2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🎨 STEP8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アレンジタイム！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549640" y="429768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49640" y="429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⏸ 動画を止めてやってみよう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F3F2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8A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★ しきい値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463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0.6 → 0.3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463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ノーマルが出にくくなる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377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8A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★ 名前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'ノーマル' → 'おにぎり'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好きな名前に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F3F2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291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8A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★ 色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3291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'#9E9E9E' → '#E53935'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291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右の色見本から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206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8A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★ 絵文字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4206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'⚪' → '🍙'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206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好きな絵文字に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6400800" cy="960120"/>
          </a:xfrm>
          <a:prstGeom prst="roundRect">
            <a:avLst>
              <a:gd name="adj" fmla="val 9524"/>
            </a:avLst>
          </a:prstGeom>
          <a:solidFill>
            <a:srgbClr val="FDECE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25780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B6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しきい値は小さい順に（例：0.5 → 0.8 → 0.95）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🎨 色見本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315200" y="20574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E539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0" y="2057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#E53935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509760" y="20574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FB8C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09760" y="2057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オレンジ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#FB8C00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0" y="3081528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FDD83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0" y="30815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#FDD835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509760" y="3081528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43A04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509760" y="30815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#43A047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0" y="4105656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E88E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315200" y="410565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#1E88E5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509760" y="4105656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8E24A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509760" y="410565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むらさき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#8E24AA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0" y="5129784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EC407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15200" y="5129784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ピンク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#EC407A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09760" y="5129784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21212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509760" y="5129784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#212121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F2C2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🎨 STEP8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365760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こんなガチャもできる！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852160" cy="4389120"/>
          </a:xfrm>
          <a:prstGeom prst="roundRect">
            <a:avLst>
              <a:gd name="adj" fmla="val 2500"/>
            </a:avLst>
          </a:prstGeom>
          <a:solidFill>
            <a:srgbClr val="F3F2FA"/>
          </a:solidFill>
          <a:ln w="25400">
            <a:solidFill>
              <a:srgbClr val="8E5CC8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📷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スクショ SS-16</a:t>
            </a:r>
            <a:endParaRPr lang="en-US" sz="4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アレンジ例（名前・色・絵文字を変えたガチャの実行画面）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766560" y="1371600"/>
            <a:ext cx="4846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0" y="1645920"/>
            <a:ext cx="731520" cy="731520"/>
          </a:xfrm>
          <a:prstGeom prst="ellipse">
            <a:avLst/>
          </a:prstGeom>
          <a:solidFill>
            <a:srgbClr val="D4A8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🙌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16459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見せ合いっこ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514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できたら、となりの人と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ガチャを回し合おう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3657600"/>
            <a:ext cx="48463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0" y="3931920"/>
            <a:ext cx="731520" cy="731520"/>
          </a:xfrm>
          <a:prstGeom prst="ellipse">
            <a:avLst/>
          </a:prstGeom>
          <a:solidFill>
            <a:srgbClr val="D4A8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🚀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39319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チャレンジ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48006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elif をもう1つ増やして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5段階ガチャにしてみよう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1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🏁 まとめ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2E2B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⬇️ 順次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上から順に実行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2E2B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554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🔀 分岐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if / elif / else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でレア度を分けた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2E2B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1554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🔁 反復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for で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回数ぶん回した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CBF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🎲 変数　📦 リスト　🧰 関数　も使いこなせた！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E5CC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✍️ ふりかえり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ウルトラレアの確率を 1% にするには、どこをどう変える？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ガチャを作ろう！ 情報Ⅰ 授業動画</dc:title>
  <dc:subject>PptxGenJS Presentation</dc:subject>
  <dc:creator>PptxGenJS</dc:creator>
  <cp:lastModifiedBy>PptxGenJS</cp:lastModifiedBy>
  <cp:revision>1</cp:revision>
  <dcterms:created xsi:type="dcterms:W3CDTF">2026-09-23T06:39:00Z</dcterms:created>
  <dcterms:modified xsi:type="dcterms:W3CDTF">2026-09-23T06:39:00Z</dcterms:modified>
</cp:coreProperties>
</file>